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presentation build: Fade in the title, then reveal the subtitle and architecture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presentation build: Reveal the three cards from left to right, then bring in the audience pills as a final emphasis.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presentation build: Build the six modality tiles in two rows; finish with the dark guest-to-history banner.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presentation build: Wipe the five steps from left to right; pause on the result contract as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presentation build: Reveal the stack from left to right; use the arrows as the visual motion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presentation build: Reveal the top row first, then bring in documents and spoofing as the two specialist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B78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DETECTION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4692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70" kern="0" dirty="0">
                <a:solidFill>
                  <a:srgbClr val="6B78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PRESENTATION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B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20000">
            <a:off x="7589520" y="-731520"/>
            <a:ext cx="5303520" cy="5303520"/>
          </a:xfrm>
          <a:prstGeom prst="arc">
            <a:avLst/>
          </a:prstGeom>
          <a:solidFill>
            <a:srgbClr val="183B56">
              <a:alpha val="0"/>
            </a:srgbClr>
          </a:solidFill>
          <a:ln w="25400">
            <a:solidFill>
              <a:srgbClr val="2E657A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8229600" y="2560320"/>
            <a:ext cx="4663440" cy="4663440"/>
          </a:xfrm>
          <a:prstGeom prst="arc">
            <a:avLst/>
          </a:prstGeom>
          <a:solidFill>
            <a:srgbClr val="183B56">
              <a:alpha val="0"/>
            </a:srgbClr>
          </a:solidFill>
          <a:ln w="38100">
            <a:solidFill>
              <a:srgbClr val="0B7285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70" kern="0" dirty="0">
                <a:solidFill>
                  <a:srgbClr val="8BD2D0"/>
                </a:solidFill>
              </a:rPr>
              <a:t>AI DETECTION PLATFORM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5087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Deepfake Defense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13232" y="248716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9E8ED"/>
                </a:solidFill>
              </a:rPr>
              <a:t>A multi-modal workspace for verifying images, video, documents, text, audio, and presentation attacks.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13232" y="3794760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24566B"/>
          </a:solidFill>
          <a:ln w="12700">
            <a:solidFill>
              <a:srgbClr val="2456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858768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E1DE"/>
                </a:solidFill>
              </a:rPr>
              <a:t>PROJECT OVERVIEW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431596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2DA"/>
                </a:solidFill>
              </a:rPr>
              <a:t>React frontend  •  FastAPI backend  •  Optional Supabase persistence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5989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D2D0"/>
                </a:solidFill>
              </a:rPr>
              <a:t>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59253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B8D2DA"/>
                </a:solidFill>
              </a:rPr>
              <a:t>Clear signals. One analysis surface.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B7285"/>
                </a:solidFill>
              </a:rPr>
              <a:t>01 / THE CASE FOR 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breaks when content crosses formats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86773"/>
                </a:solidFill>
              </a:rPr>
              <a:t>Deepfake Defense gives a reviewer one place to ask: “Can I trust this?”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29000" cy="2331720"/>
          </a:xfrm>
          <a:prstGeom prst="roundRect">
            <a:avLst>
              <a:gd name="adj" fmla="val 1961"/>
            </a:avLst>
          </a:prstGeom>
          <a:solidFill>
            <a:srgbClr val="FBE8E5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64008" cy="2331720"/>
          </a:xfrm>
          <a:prstGeom prst="rect">
            <a:avLst/>
          </a:prstGeom>
          <a:solidFill>
            <a:srgbClr val="D96459"/>
          </a:solidFill>
          <a:ln w="12700">
            <a:solidFill>
              <a:srgbClr val="D964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57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98448" y="2057400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Many signals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459736"/>
            <a:ext cx="299008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</a:rPr>
              <a:t>A suspicious story may include a video, voice note, screenshot, document, or text post. Each carries different clues.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429000" cy="2331720"/>
          </a:xfrm>
          <a:prstGeom prst="roundRect">
            <a:avLst>
              <a:gd name="adj" fmla="val 1961"/>
            </a:avLst>
          </a:prstGeom>
          <a:solidFill>
            <a:srgbClr val="DDF2F1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74520"/>
            <a:ext cx="64008" cy="23317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057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47488" y="2057400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One workspace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2459736"/>
            <a:ext cx="299008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</a:rPr>
              <a:t>The dashboard routes each input to the right detector and returns the same readable result shape.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429000" cy="2331720"/>
          </a:xfrm>
          <a:prstGeom prst="roundRect">
            <a:avLst>
              <a:gd name="adj" fmla="val 1961"/>
            </a:avLst>
          </a:prstGeom>
          <a:solidFill>
            <a:srgbClr val="FFF3D6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874520"/>
            <a:ext cx="64008" cy="233172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2057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796528" y="2057400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A decision aid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2459736"/>
            <a:ext cx="299008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</a:rPr>
              <a:t>Reviewers get a first-pass risk score, evidence highlights, and a traceable report when they sign in.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47548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7285"/>
                </a:solidFill>
              </a:rPr>
              <a:t>Designed for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74520" y="4681728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DDF2F1"/>
          </a:solidFill>
          <a:ln w="12700">
            <a:solidFill>
              <a:srgbClr val="DDF2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4745736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285"/>
                </a:solidFill>
              </a:rPr>
              <a:t>MEDIA REVIEW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10128" y="4681728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4745736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417"/>
                </a:solidFill>
              </a:rPr>
              <a:t>SECURITY TEAMS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19472" y="4681728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FBE8E5"/>
          </a:solidFill>
          <a:ln w="12700">
            <a:solidFill>
              <a:srgbClr val="FBE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4745736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6459"/>
                </a:solidFill>
              </a:rPr>
              <a:t>CONTENT MODERATION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48272" y="4681728"/>
            <a:ext cx="1481328" cy="292608"/>
          </a:xfrm>
          <a:prstGeom prst="roundRect">
            <a:avLst>
              <a:gd name="adj" fmla="val 18750"/>
            </a:avLst>
          </a:prstGeom>
          <a:solidFill>
            <a:srgbClr val="E3F4EE"/>
          </a:solidFill>
          <a:ln w="12700">
            <a:solidFill>
              <a:srgbClr val="E3F4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474573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B72"/>
                </a:solidFill>
              </a:rPr>
              <a:t>IDENTITY WORKFLOWS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B7285"/>
                </a:solidFill>
              </a:rPr>
              <a:t>02 / 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detectors. One review surface.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86773"/>
                </a:solidFill>
              </a:rPr>
              <a:t>Choose a modality, submit evidence, and receive a consistent signal without changing tools.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33375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12140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85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084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Image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43230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773"/>
                </a:solidFill>
              </a:rPr>
              <a:t>Manipulation, noise, compression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53128" y="1920240"/>
            <a:ext cx="33375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212140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85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66360" y="2084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Video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66360" y="243230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773"/>
                </a:solidFill>
              </a:rPr>
              <a:t>Temporal and facial artifacts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47888" y="1920240"/>
            <a:ext cx="33375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9056" y="212140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85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0" y="2084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Document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0" y="243230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773"/>
                </a:solidFill>
              </a:rPr>
              <a:t>Visual tampering and layout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273552"/>
            <a:ext cx="33375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474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85"/>
                </a:solidFill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4381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Text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78561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773"/>
                </a:solidFill>
              </a:rPr>
              <a:t>Synthetic writing signals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53128" y="3273552"/>
            <a:ext cx="33375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474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85"/>
                </a:solidFill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66360" y="34381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Audio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66360" y="378561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773"/>
                </a:solidFill>
              </a:rPr>
              <a:t>Voice cloning and synthesis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47888" y="3273552"/>
            <a:ext cx="33375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49056" y="3474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85"/>
                </a:solidFill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61120" y="34381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Spoofing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961120" y="378561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773"/>
                </a:solidFill>
              </a:rPr>
              <a:t>Replay and liveness risk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" y="4892040"/>
            <a:ext cx="10881360" cy="713232"/>
          </a:xfrm>
          <a:prstGeom prst="roundRect">
            <a:avLst>
              <a:gd name="adj" fmla="val 5128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12978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Start as a guest. Sign in when you need private history and saved reports.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B7285"/>
                </a:solidFill>
              </a:rPr>
              <a:t>03 / THE MOMENT OF USE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Upload once. Follow the signal.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86773"/>
                </a:solidFill>
              </a:rPr>
              <a:t>Every path converges on a small, consistent result contract that a reviewer can explain.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2039112"/>
            <a:ext cx="576072" cy="576072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221992"/>
            <a:ext cx="576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" y="28346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32D"/>
                </a:solidFill>
              </a:rPr>
              <a:t>Select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321868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773"/>
                </a:solidFill>
              </a:rPr>
              <a:t>Choose image, video, document, text, audio, or spoofing.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2176272"/>
            <a:ext cx="566928" cy="310896"/>
          </a:xfrm>
          <a:prstGeom prst="chevron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9504" y="2039112"/>
            <a:ext cx="576072" cy="576072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2221992"/>
            <a:ext cx="576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52344" y="28346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32D"/>
                </a:solidFill>
              </a:rPr>
              <a:t>Submit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9464" y="321868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773"/>
                </a:solidFill>
              </a:rPr>
              <a:t>Upload a supported file or paste text into the analyzer.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30752" y="2176272"/>
            <a:ext cx="566928" cy="310896"/>
          </a:xfrm>
          <a:prstGeom prst="chevron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57216" y="2039112"/>
            <a:ext cx="576072" cy="576072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2221992"/>
            <a:ext cx="576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0056" y="28346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32D"/>
                </a:solidFill>
              </a:rPr>
              <a:t>Route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37176" y="321868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773"/>
                </a:solidFill>
              </a:rPr>
              <a:t>The API selects the detector based on modality and format.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98464" y="2176272"/>
            <a:ext cx="566928" cy="310896"/>
          </a:xfrm>
          <a:prstGeom prst="chevron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1304" y="25694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86773"/>
                </a:solidFill>
              </a:rPr>
              <a:t>API route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24928" y="2039112"/>
            <a:ext cx="576072" cy="576072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2221992"/>
            <a:ext cx="576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87768" y="28346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32D"/>
                </a:solidFill>
              </a:rPr>
              <a:t>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04888" y="321868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773"/>
                </a:solidFill>
              </a:rPr>
              <a:t>Inspect score, verdict, description, and highlights.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66176" y="2176272"/>
            <a:ext cx="566928" cy="310896"/>
          </a:xfrm>
          <a:prstGeom prst="chevron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2640" y="2039112"/>
            <a:ext cx="576072" cy="576072"/>
          </a:xfrm>
          <a:prstGeom prst="ellipse">
            <a:avLst/>
          </a:prstGeom>
          <a:solidFill>
            <a:srgbClr val="D96459"/>
          </a:solidFill>
          <a:ln w="12700">
            <a:solidFill>
              <a:srgbClr val="D964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2221992"/>
            <a:ext cx="576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55480" y="28346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32D"/>
                </a:solidFill>
              </a:rPr>
              <a:t>Save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72600" y="321868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773"/>
                </a:solidFill>
              </a:rPr>
              <a:t>Persist the report and request history when logged in.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0120" y="4773168"/>
            <a:ext cx="10149840" cy="713232"/>
          </a:xfrm>
          <a:prstGeom prst="roundRect">
            <a:avLst>
              <a:gd name="adj" fmla="val 5128"/>
            </a:avLst>
          </a:prstGeom>
          <a:solidFill>
            <a:srgbClr val="DDF2F1"/>
          </a:solidFill>
          <a:ln w="12700">
            <a:solidFill>
              <a:srgbClr val="DDF2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5010912"/>
            <a:ext cx="9646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7285"/>
                </a:solidFill>
              </a:rPr>
              <a:t>Result: risk score  •  verdict  •  explanation  •  evidence highlights  •  runtime mode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B7285"/>
                </a:solidFill>
              </a:rPr>
              <a:t>04 / UNDER THE HOOD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clean path from click to classification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86773"/>
                </a:solidFill>
              </a:rPr>
              <a:t>The interface, API, detector modules, and persistence layer stay separate so the project can grow safely.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468880" cy="2194560"/>
          </a:xfrm>
          <a:prstGeom prst="roundRect">
            <a:avLst>
              <a:gd name="adj" fmla="val 2083"/>
            </a:avLst>
          </a:prstGeom>
          <a:solidFill>
            <a:srgbClr val="DDF2F1"/>
          </a:solidFill>
          <a:ln w="15240">
            <a:solidFill>
              <a:srgbClr val="0B72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2D"/>
                </a:solidFill>
              </a:rPr>
              <a:t>React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86207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Vite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Modality tabs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Upload + result 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Auth state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9272" y="2898648"/>
            <a:ext cx="566928" cy="310896"/>
          </a:xfrm>
          <a:prstGeom prst="chevron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965960"/>
            <a:ext cx="2468880" cy="2194560"/>
          </a:xfrm>
          <a:prstGeom prst="roundRect">
            <a:avLst>
              <a:gd name="adj" fmla="val 2083"/>
            </a:avLst>
          </a:prstGeom>
          <a:solidFill>
            <a:srgbClr val="E7EEF7"/>
          </a:solidFill>
          <a:ln w="15240">
            <a:solidFill>
              <a:srgbClr val="183B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2D"/>
                </a:solidFill>
              </a:rPr>
              <a:t>FastAPI gateway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86200" y="286207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/api/analyze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/api/detect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/api/detect-document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Validation + CORS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5352" y="2898648"/>
            <a:ext cx="566928" cy="310896"/>
          </a:xfrm>
          <a:prstGeom prst="chevron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1965960"/>
            <a:ext cx="2468880" cy="2194560"/>
          </a:xfrm>
          <a:prstGeom prst="roundRect">
            <a:avLst>
              <a:gd name="adj" fmla="val 2083"/>
            </a:avLst>
          </a:prstGeom>
          <a:solidFill>
            <a:srgbClr val="FFF3D6"/>
          </a:solidFill>
          <a:ln w="15240">
            <a:solidFill>
              <a:srgbClr val="D9A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2D"/>
                </a:solidFill>
              </a:rPr>
              <a:t>Detector modules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12280" y="286207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Image / video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Document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Text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Audio / spoof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71432" y="2898648"/>
            <a:ext cx="566928" cy="310896"/>
          </a:xfrm>
          <a:prstGeom prst="chevron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64040" y="1965960"/>
            <a:ext cx="2057400" cy="2194560"/>
          </a:xfrm>
          <a:prstGeom prst="roundRect">
            <a:avLst>
              <a:gd name="adj" fmla="val 2222"/>
            </a:avLst>
          </a:prstGeom>
          <a:solidFill>
            <a:srgbClr val="E3F4EE"/>
          </a:solidFill>
          <a:ln w="15240">
            <a:solidFill>
              <a:srgbClr val="2E8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22677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2D"/>
                </a:solidFill>
              </a:rPr>
              <a:t>Supabase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38360" y="286207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Auth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Storage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Reports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6773"/>
                </a:solidFill>
              </a:rPr>
              <a:t>Request history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4800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B7285"/>
                </a:solidFill>
              </a:rPr>
              <a:t>Contract boundary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5148072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86773"/>
                </a:solidFill>
              </a:rPr>
              <a:t>The frontend can run with demo samples, a direct FastAPI backend, or a Supabase Edge Function path.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B7285"/>
                </a:solidFill>
              </a:rPr>
              <a:t>05 / DETECTION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 evidence needs different eyes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86773"/>
                </a:solidFill>
              </a:rPr>
              <a:t>The codebase keeps each modality honest: specialized preprocessing, model path, and fallback behavior.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64008" cy="19202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11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98448" y="2011680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Image + video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414016"/>
            <a:ext cx="3081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</a:rPr>
              <a:t>Xception and ResNet18 paths. Images are resized and normalized; videos sample frames and aggregate predictions.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828800"/>
            <a:ext cx="64008" cy="1920240"/>
          </a:xfrm>
          <a:prstGeom prst="rect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2011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01768" y="2011680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Text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414016"/>
            <a:ext cx="3081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</a:rPr>
              <a:t>DeBERTa-v3 with BiLSTM, CNN, Transformer, and cross-attention fusion for synthetic writing signals.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5204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828800"/>
            <a:ext cx="64008" cy="192024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2011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♪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705088" y="2011680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Audio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75320" y="2414016"/>
            <a:ext cx="3081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</a:rPr>
              <a:t>Wav2Vec2 embeddings followed by CNN, BiLSTM, attention pooling, and binary classification.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487168" y="4160520"/>
            <a:ext cx="35204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4160520"/>
            <a:ext cx="64008" cy="1508760"/>
          </a:xfrm>
          <a:prstGeom prst="rect">
            <a:avLst/>
          </a:prstGeom>
          <a:solidFill>
            <a:srgbClr val="D96459"/>
          </a:solidFill>
          <a:ln w="12700">
            <a:solidFill>
              <a:srgbClr val="D964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88336" y="4343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▣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145536" y="4343400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Documents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715768" y="4745736"/>
            <a:ext cx="3081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</a:rPr>
              <a:t>Designed as a hybrid visual-text path with EfficientNet, EasyOCR, and DeBERTa components.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90488" y="4160520"/>
            <a:ext cx="35204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0488" y="4160520"/>
            <a:ext cx="64008" cy="1508760"/>
          </a:xfrm>
          <a:prstGeom prst="rect">
            <a:avLst/>
          </a:prstGeom>
          <a:solidFill>
            <a:srgbClr val="2E8B72"/>
          </a:solidFill>
          <a:ln w="12700">
            <a:solidFill>
              <a:srgbClr val="2E8B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1656" y="4343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盾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48856" y="4343400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Spoofing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19088" y="4745736"/>
            <a:ext cx="3081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</a:rPr>
              <a:t>Dedicated presentation-attack contract for replay, mask, print, and synthetic media risk.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B7285"/>
                </a:solidFill>
              </a:rPr>
              <a:t>06 / BACKEND CONTRACT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 endpoints, predictable responses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86773"/>
                </a:solidFill>
              </a:rPr>
              <a:t>FastAPI validates inputs, routes by modality, and returns JSON that the frontend can render consistently.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53212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93392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E3F4EE"/>
          </a:solidFill>
          <a:ln w="12700">
            <a:solidFill>
              <a:srgbClr val="E3F4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B72"/>
                </a:solidFill>
              </a:rPr>
              <a:t>GET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10512" y="20391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77640" y="203911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773"/>
                </a:solidFill>
              </a:rPr>
              <a:t>Service readiness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624328"/>
            <a:ext cx="5532120" cy="530352"/>
          </a:xfrm>
          <a:prstGeom prst="roundRect">
            <a:avLst>
              <a:gd name="adj" fmla="val 5172"/>
            </a:avLst>
          </a:prstGeom>
          <a:solidFill>
            <a:srgbClr val="DDF2F1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743200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DDF2F1"/>
          </a:solidFill>
          <a:ln w="12700">
            <a:solidFill>
              <a:srgbClr val="DDF2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80720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285"/>
                </a:solidFill>
              </a:rPr>
              <a:t>POST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10512" y="278892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/api/analyze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27889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773"/>
                </a:solidFill>
              </a:rPr>
              <a:t>Unified modality analysis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374136"/>
            <a:ext cx="553212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493008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DDF2F1"/>
          </a:solidFill>
          <a:ln w="12700">
            <a:solidFill>
              <a:srgbClr val="DDF2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55701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285"/>
                </a:solidFill>
              </a:rPr>
              <a:t>POST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10512" y="35387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/api/detect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77640" y="353872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773"/>
                </a:solidFill>
              </a:rPr>
              <a:t>Legacy image / video detection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123944"/>
            <a:ext cx="553212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242816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DDF2F1"/>
          </a:solidFill>
          <a:ln w="12700">
            <a:solidFill>
              <a:srgbClr val="DDF2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30682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285"/>
                </a:solidFill>
              </a:rPr>
              <a:t>POST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10512" y="428853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/api/detect-document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428853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773"/>
                </a:solidFill>
              </a:rPr>
              <a:t>Document forgery route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1874520"/>
            <a:ext cx="4572000" cy="3520440"/>
          </a:xfrm>
          <a:prstGeom prst="roundRect">
            <a:avLst>
              <a:gd name="adj" fmla="val 1039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22219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D2D0"/>
                </a:solidFill>
              </a:rPr>
              <a:t>RESULT CONTRACT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78040" y="26517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"score": 82,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"Risk detected",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"...",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"highlights": ["..."],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"mode": "demo_fallback"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4892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CE3"/>
                </a:solidFill>
              </a:rPr>
              <a:t>The mode field makes runtime readiness visible instead of hiding 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B7285"/>
                </a:solidFill>
              </a:rPr>
              <a:t>07 / QUALITY AND READINESS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working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86773"/>
                </a:solidFill>
              </a:rPr>
              <a:t>The project is structured for a credible demo and an explicit path to production-grade model evaluation.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508760" cy="896112"/>
          </a:xfrm>
          <a:prstGeom prst="roundRect">
            <a:avLst>
              <a:gd name="adj" fmla="val 5102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2082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6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50392" y="244144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8E5EC"/>
                </a:solidFill>
              </a:rPr>
              <a:t>analysis modes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0" y="1874520"/>
            <a:ext cx="1508760" cy="896112"/>
          </a:xfrm>
          <a:prstGeom prst="roundRect">
            <a:avLst>
              <a:gd name="adj" fmla="val 5102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02082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4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633472" y="244144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8E5EC"/>
                </a:solidFill>
              </a:rPr>
              <a:t>API routes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43400" y="1874520"/>
            <a:ext cx="1508760" cy="896112"/>
          </a:xfrm>
          <a:prstGeom prst="roundRect">
            <a:avLst>
              <a:gd name="adj" fmla="val 5102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202082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416552" y="244144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8E5EC"/>
                </a:solidFill>
              </a:rPr>
              <a:t>vision models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874520"/>
            <a:ext cx="1508760" cy="896112"/>
          </a:xfrm>
          <a:prstGeom prst="roundRect">
            <a:avLst>
              <a:gd name="adj" fmla="val 5102"/>
            </a:avLst>
          </a:prstGeom>
          <a:solidFill>
            <a:srgbClr val="2E8B72"/>
          </a:solidFill>
          <a:ln w="12700">
            <a:solidFill>
              <a:srgbClr val="2E8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02082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5+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199632" y="244144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8E5EC"/>
                </a:solidFill>
              </a:rPr>
              <a:t>test areas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77240" y="3337560"/>
            <a:ext cx="4983480" cy="1737360"/>
          </a:xfrm>
          <a:prstGeom prst="roundRect">
            <a:avLst>
              <a:gd name="adj" fmla="val 2632"/>
            </a:avLst>
          </a:prstGeom>
          <a:solidFill>
            <a:srgbClr val="E3F4EE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337560"/>
            <a:ext cx="64008" cy="1737360"/>
          </a:xfrm>
          <a:prstGeom prst="rect">
            <a:avLst/>
          </a:prstGeom>
          <a:solidFill>
            <a:srgbClr val="2E8B72"/>
          </a:solidFill>
          <a:ln w="12700">
            <a:solidFill>
              <a:srgbClr val="2E8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520440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Validated behavior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3922776"/>
            <a:ext cx="45445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</a:rPr>
              <a:t>Health checks, input validation, supported extensions, modality routing, deterministic text scoring, fallback responses, preprocessing shape, and error handling are covered by backend tests.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89320" y="3337560"/>
            <a:ext cx="4983480" cy="1737360"/>
          </a:xfrm>
          <a:prstGeom prst="roundRect">
            <a:avLst>
              <a:gd name="adj" fmla="val 2632"/>
            </a:avLst>
          </a:prstGeom>
          <a:solidFill>
            <a:srgbClr val="FBE8E5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3337560"/>
            <a:ext cx="64008" cy="1737360"/>
          </a:xfrm>
          <a:prstGeom prst="rect">
            <a:avLst/>
          </a:prstGeom>
          <a:solidFill>
            <a:srgbClr val="D96459"/>
          </a:solidFill>
          <a:ln w="12700">
            <a:solidFill>
              <a:srgbClr val="D964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520440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Next validation step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17920" y="3922776"/>
            <a:ext cx="45445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</a:rPr>
              <a:t>Add trained checkpoint files, run held-out evaluation by modality, measure false positives and false negatives, and compare model mode against demo fallback mode.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B7285"/>
                </a:solidFill>
              </a:rPr>
              <a:t>08 /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Move from demonstrable plumbing to measured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86773"/>
                </a:solidFill>
              </a:rPr>
              <a:t>The architecture is in place; the next gains come from data, evaluation, and operational hardening.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04672" y="1938528"/>
            <a:ext cx="402336" cy="402336"/>
          </a:xfrm>
          <a:prstGeom prst="ellipse">
            <a:avLst/>
          </a:prstGeom>
          <a:solidFill>
            <a:srgbClr val="0B7285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75688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81328" y="182880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B7285"/>
                </a:solidFill>
              </a:rPr>
              <a:t>NOW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Working product surface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0" y="181965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773"/>
                </a:solidFill>
              </a:rPr>
              <a:t>Multi-modal UI, API routing, normalized results, auth/history integration, tests.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2395728"/>
            <a:ext cx="0" cy="393192"/>
          </a:xfrm>
          <a:prstGeom prst="line">
            <a:avLst/>
          </a:prstGeom>
          <a:noFill/>
          <a:ln w="17780">
            <a:solidFill>
              <a:srgbClr val="D7E0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89864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035808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285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81328" y="278892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B7285"/>
                </a:solidFill>
              </a:rPr>
              <a:t>NEXT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27706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Model readiness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277977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773"/>
                </a:solidFill>
              </a:rPr>
              <a:t>Ship and version detector checkpoints; expose model provenance and confidence calibration.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3355848"/>
            <a:ext cx="0" cy="393192"/>
          </a:xfrm>
          <a:prstGeom prst="line">
            <a:avLst/>
          </a:prstGeom>
          <a:noFill/>
          <a:ln w="17780">
            <a:solidFill>
              <a:srgbClr val="D7E0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85876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995928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285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81328" y="37490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B7285"/>
                </a:solidFill>
              </a:rPr>
              <a:t>THEN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68880" y="37307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0" y="37398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773"/>
                </a:solidFill>
              </a:rPr>
              <a:t>Build labeled validation sets and report precision, recall, calibration, and per-modality failure cases.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4315968"/>
            <a:ext cx="0" cy="393192"/>
          </a:xfrm>
          <a:prstGeom prst="line">
            <a:avLst/>
          </a:prstGeom>
          <a:noFill/>
          <a:ln w="17780">
            <a:solidFill>
              <a:srgbClr val="D7E0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81888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956048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285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81328" y="470916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B7285"/>
                </a:solidFill>
              </a:rPr>
              <a:t>SCALE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68880" y="4690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D"/>
                </a:solidFill>
              </a:rPr>
              <a:t>Production hardening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0" y="470001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773"/>
                </a:solidFill>
              </a:rPr>
              <a:t>Authentication at the API boundary, file limits, rate controls, observability, and secure deployment.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5669280"/>
            <a:ext cx="10652760" cy="457200"/>
          </a:xfrm>
          <a:prstGeom prst="roundRect">
            <a:avLst>
              <a:gd name="adj" fmla="val 6000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824728"/>
            <a:ext cx="10287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Core message: the platform can demonstrate the workflow today; model claims should follow measured validation.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72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9875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9EFEB"/>
                </a:solidFill>
              </a:rPr>
              <a:t>DEEPFAKE DEFENSE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authenticity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reviewable.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F4F1"/>
                </a:solidFill>
              </a:rPr>
              <a:t>A clear interface for a messy trust problem.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0" y="14173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183B56">
              <a:alpha val="95000"/>
            </a:srgbClr>
          </a:solidFill>
          <a:ln w="15240">
            <a:solidFill>
              <a:srgbClr val="77C9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920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8BD2D0"/>
                </a:solidFill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18120" y="2267712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media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text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voice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documents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818120" y="3877056"/>
            <a:ext cx="2331720" cy="0"/>
          </a:xfrm>
          <a:prstGeom prst="line">
            <a:avLst/>
          </a:prstGeom>
          <a:noFill/>
          <a:ln w="12700">
            <a:solidFill>
              <a:srgbClr val="5C8B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41330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8BD2D0"/>
                </a:solidFill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18120" y="44531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risk score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review highlights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traceable report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989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Thank you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 Detection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Detection | Project Presentation</dc:title>
  <dc:subject>Project overview and technical architecture</dc:subject>
  <dc:creator>AI Detection Project</dc:creator>
  <cp:lastModifiedBy>AI Detection Project</cp:lastModifiedBy>
  <cp:revision>1</cp:revision>
  <dcterms:created xsi:type="dcterms:W3CDTF">2026-09-10T07:08:05Z</dcterms:created>
  <dcterms:modified xsi:type="dcterms:W3CDTF">2026-09-10T07:08:05Z</dcterms:modified>
</cp:coreProperties>
</file>